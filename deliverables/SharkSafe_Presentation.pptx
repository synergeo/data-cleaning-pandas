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964fc4d91a4ff1" /><Relationship Type="http://schemas.openxmlformats.org/officeDocument/2006/relationships/extended-properties" Target="/docProps/app.xml" Id="Rd0860360afeb4b0d" /><Relationship Type="http://schemas.openxmlformats.org/officeDocument/2006/relationships/officeDocument" Target="/ppt/presentation.xml" Id="R6a828516b9884a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50f41604dd4659"/>
  </p:sldMasterIdLst>
  <p:notesMasterIdLst>
    <p:notesMasterId xmlns:r="http://schemas.openxmlformats.org/officeDocument/2006/relationships" r:id="R6b4943ab789c4389"/>
  </p:notesMasterIdLst>
  <p:sldIdLst>
    <p:sldId xmlns:r="http://schemas.openxmlformats.org/officeDocument/2006/relationships" id="256" r:id="R329c3bd2185a43d2"/>
    <p:sldId xmlns:r="http://schemas.openxmlformats.org/officeDocument/2006/relationships" id="257" r:id="R7708b38bd03f48b6"/>
    <p:sldId xmlns:r="http://schemas.openxmlformats.org/officeDocument/2006/relationships" id="258" r:id="R78bbd593dc274833"/>
    <p:sldId xmlns:r="http://schemas.openxmlformats.org/officeDocument/2006/relationships" id="259" r:id="Rc4dd4963c401439c"/>
    <p:sldId xmlns:r="http://schemas.openxmlformats.org/officeDocument/2006/relationships" id="260" r:id="Redf5e11ab2b04aef"/>
    <p:sldId xmlns:r="http://schemas.openxmlformats.org/officeDocument/2006/relationships" id="261" r:id="Rad159d41b96c4d9d"/>
    <p:sldId xmlns:r="http://schemas.openxmlformats.org/officeDocument/2006/relationships" id="262" r:id="Rad230cc595714be0"/>
    <p:sldId xmlns:r="http://schemas.openxmlformats.org/officeDocument/2006/relationships" id="263" r:id="R2518e405d9d44870"/>
    <p:sldId xmlns:r="http://schemas.openxmlformats.org/officeDocument/2006/relationships" id="264" r:id="R6ac27141f0674c01"/>
    <p:sldId xmlns:r="http://schemas.openxmlformats.org/officeDocument/2006/relationships" id="265" r:id="R8ce988b971e548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584eca45da44fb" /><Relationship Type="http://schemas.openxmlformats.org/officeDocument/2006/relationships/slideMaster" Target="/ppt/slideMasters/slideMaster1.xml" Id="Rdd50f41604dd4659" /><Relationship Type="http://schemas.openxmlformats.org/officeDocument/2006/relationships/notesMaster" Target="/ppt/notesMasters/notesMaster1.xml" Id="R6b4943ab789c4389" /><Relationship Type="http://schemas.openxmlformats.org/officeDocument/2006/relationships/presProps" Target="/ppt/presProps.xml" Id="R3a4c6d9a82c24080" /><Relationship Type="http://schemas.openxmlformats.org/officeDocument/2006/relationships/tableStyles" Target="/ppt/tableStyles.xml" Id="R50ceaf3a1cb34203" /><Relationship Type="http://schemas.openxmlformats.org/officeDocument/2006/relationships/slide" Target="/ppt/slides/slide1.xml" Id="R329c3bd2185a43d2" /><Relationship Type="http://schemas.openxmlformats.org/officeDocument/2006/relationships/slide" Target="/ppt/slides/slide2.xml" Id="R7708b38bd03f48b6" /><Relationship Type="http://schemas.openxmlformats.org/officeDocument/2006/relationships/slide" Target="/ppt/slides/slide3.xml" Id="R78bbd593dc274833" /><Relationship Type="http://schemas.openxmlformats.org/officeDocument/2006/relationships/slide" Target="/ppt/slides/slide4.xml" Id="Rc4dd4963c401439c" /><Relationship Type="http://schemas.openxmlformats.org/officeDocument/2006/relationships/slide" Target="/ppt/slides/slide5.xml" Id="Redf5e11ab2b04aef" /><Relationship Type="http://schemas.openxmlformats.org/officeDocument/2006/relationships/slide" Target="/ppt/slides/slide6.xml" Id="Rad159d41b96c4d9d" /><Relationship Type="http://schemas.openxmlformats.org/officeDocument/2006/relationships/slide" Target="/ppt/slides/slide7.xml" Id="Rad230cc595714be0" /><Relationship Type="http://schemas.openxmlformats.org/officeDocument/2006/relationships/slide" Target="/ppt/slides/slide8.xml" Id="R2518e405d9d44870" /><Relationship Type="http://schemas.openxmlformats.org/officeDocument/2006/relationships/slide" Target="/ppt/slides/slide9.xml" Id="R6ac27141f0674c01" /><Relationship Type="http://schemas.openxmlformats.org/officeDocument/2006/relationships/slide" Target="/ppt/slides/slide10.xml" Id="R8ce988b971e548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0a7124d67b4a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f677a16f5b4ddc" /><Relationship Type="http://schemas.openxmlformats.org/officeDocument/2006/relationships/notesMaster" Target="/ppt/notesMasters/notesMaster1.xml" Id="Rbab0fe83b7ae43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89731d3b7e4e43" /><Relationship Type="http://schemas.openxmlformats.org/officeDocument/2006/relationships/notesMaster" Target="/ppt/notesMasters/notesMaster1.xml" Id="R05e59651c32546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6674f2104f469f" /><Relationship Type="http://schemas.openxmlformats.org/officeDocument/2006/relationships/notesMaster" Target="/ppt/notesMasters/notesMaster1.xml" Id="R29b44468184c47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d02048dd274ca8" /><Relationship Type="http://schemas.openxmlformats.org/officeDocument/2006/relationships/notesMaster" Target="/ppt/notesMasters/notesMaster1.xml" Id="Rd235ac200cd24d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8d99919dc14cc5" /><Relationship Type="http://schemas.openxmlformats.org/officeDocument/2006/relationships/notesMaster" Target="/ppt/notesMasters/notesMaster1.xml" Id="R61e43712226147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f9ed0343464355" /><Relationship Type="http://schemas.openxmlformats.org/officeDocument/2006/relationships/notesMaster" Target="/ppt/notesMasters/notesMaster1.xml" Id="R255434a01feb47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4c1686775d4d5b" /><Relationship Type="http://schemas.openxmlformats.org/officeDocument/2006/relationships/notesMaster" Target="/ppt/notesMasters/notesMaster1.xml" Id="Rd4975ae5f90b49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4963d5241c4d1e" /><Relationship Type="http://schemas.openxmlformats.org/officeDocument/2006/relationships/notesMaster" Target="/ppt/notesMasters/notesMaster1.xml" Id="R315f7d9ea95e4e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5925fa7e9841f2" /><Relationship Type="http://schemas.openxmlformats.org/officeDocument/2006/relationships/notesMaster" Target="/ppt/notesMasters/notesMaster1.xml" Id="Rb6646a03e68249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defa9d33d9425e" /><Relationship Type="http://schemas.openxmlformats.org/officeDocument/2006/relationships/notesMaster" Target="/ppt/notesMasters/notesMaster1.xml" Id="Rc628e13f41664e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transformed a messy historical incident log into a reproducible analysis of modern unprovoked shark incidents.</a:t>
            </a:r>
          </a:p>
          <a:p xmlns:a="http://schemas.openxmlformats.org/drawingml/2006/main">
            <a:r>
              <a:t>Source: Global Shark Attack File incident log, downloaded 18 September 2026. Analysis by the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hypothesis before discussing results. Emphasize that counts cannot establish the probability of an attack.</a:t>
            </a:r>
          </a:p>
          <a:p xmlns:a="http://schemas.openxmlformats.org/drawingml/2006/main">
            <a:r>
              <a:t>Source: Global Shark Attack File incident log, downloaded 18 September 2026. Analysis by the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source includes historical and incomplete records. We restricted the analysis to complete modern years and one incident type.</a:t>
            </a:r>
          </a:p>
          <a:p xmlns:a="http://schemas.openxmlformats.org/drawingml/2006/main">
            <a:r>
              <a:t>Source: Global Shark Attack File incident log, downloaded 18 September 2026. Analysis by the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cleaning steps live in separate functions. One main function calls them in a fixed order, which makes the work reproducible and easy to test.</a:t>
            </a:r>
          </a:p>
          <a:p xmlns:a="http://schemas.openxmlformats.org/drawingml/2006/main">
            <a:r>
              <a:t>Source: Global Shark Attack File incident log, downloaded 18 September 2026. Analysis by the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Surfing accounts for 966 of 2,220 selected records. This supports the hypothesis for incident frequency, but does not show participant risk.</a:t>
            </a:r>
          </a:p>
          <a:p xmlns:a="http://schemas.openxmlformats.org/drawingml/2006/main">
            <a:r>
              <a:t>Source: Global Shark Attack File incident log, downloaded 18 September 2026. Analysis by the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USA leads the recorded counts. We avoid calling this a risk ranking because countries differ in exposure and reporting coverage.</a:t>
            </a:r>
          </a:p>
          <a:p xmlns:a="http://schemas.openxmlformats.org/drawingml/2006/main">
            <a:r>
              <a:t>Source: Global Shark Attack File incident log, downloaded 18 September 2026. Analysis by the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calculated fatal percentages only among known outcomes. The category percentages describe the records and may reflect different incident circumstances.</a:t>
            </a:r>
          </a:p>
          <a:p xmlns:a="http://schemas.openxmlformats.org/drawingml/2006/main">
            <a:r>
              <a:t>Source: Global Shark Attack File incident log, downloaded 18 September 2026. Analysis by the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Regex helped extract usable values, but grouping still requires analytical judgment. We documented the rules instead of hiding them.</a:t>
            </a:r>
          </a:p>
          <a:p xmlns:a="http://schemas.openxmlformats.org/drawingml/2006/main">
            <a:r>
              <a:t>Source: Global Shark Attack File incident log, downloaded 18 September 2026. Analysis by the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direct answer to the hypothesis and the central limitation. Exposure denominators would allow a stronger risk analysis.</a:t>
            </a:r>
          </a:p>
          <a:p xmlns:a="http://schemas.openxmlformats.org/drawingml/2006/main">
            <a:r>
              <a:t>Source: Global Shark Attack File incident log, downloaded 18 September 2026. Analysis by the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the audience and transition to questions or the two-minute notebook demonstration.</a:t>
            </a:r>
          </a:p>
          <a:p xmlns:a="http://schemas.openxmlformats.org/drawingml/2006/main">
            <a:r>
              <a:t>Source: Global Shark Attack File incident log, downloaded 18 September 2026. Analysis by the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ebb816947b4f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2e1cccc6ee4b3c" /><Relationship Type="http://schemas.openxmlformats.org/officeDocument/2006/relationships/slideLayout" Target="/ppt/slideLayouts/slideLayout1.xml" Id="R5e0f6ad01c4544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0f6ad01c4544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619216f6b4a75" /><Relationship Type="http://schemas.openxmlformats.org/officeDocument/2006/relationships/notesSlide" Target="/ppt/notesSlides/notesSlide1.xml" Id="R27236cbd474947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f426ee8dc4e82" /><Relationship Type="http://schemas.openxmlformats.org/officeDocument/2006/relationships/notesSlide" Target="/ppt/notesSlides/notesSlide2.xml" Id="R472d102fe7514f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793364d5c425a" /><Relationship Type="http://schemas.openxmlformats.org/officeDocument/2006/relationships/notesSlide" Target="/ppt/notesSlides/notesSlide3.xml" Id="Rb75a593f1be944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7f6626fbf4351" /><Relationship Type="http://schemas.openxmlformats.org/officeDocument/2006/relationships/notesSlide" Target="/ppt/notesSlides/notesSlide4.xml" Id="Rd6d79e23c0f54f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551fd724f4f53" /><Relationship Type="http://schemas.openxmlformats.org/officeDocument/2006/relationships/chart" Target="/ppt/slides/charts/chart1.xml" Id="R39336578d33e4d4e" /><Relationship Type="http://schemas.openxmlformats.org/officeDocument/2006/relationships/notesSlide" Target="/ppt/notesSlides/notesSlide5.xml" Id="R039dfdb4724b46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9841a3e734faf" /><Relationship Type="http://schemas.openxmlformats.org/officeDocument/2006/relationships/chart" Target="/ppt/slides/charts/chart2.xml" Id="R831c3aab73cc4f83" /><Relationship Type="http://schemas.openxmlformats.org/officeDocument/2006/relationships/notesSlide" Target="/ppt/notesSlides/notesSlide6.xml" Id="R1da096d8566a4e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d8de96a4d4a48" /><Relationship Type="http://schemas.openxmlformats.org/officeDocument/2006/relationships/chart" Target="/ppt/slides/charts/chart3.xml" Id="Re69f2d4c7e164a91" /><Relationship Type="http://schemas.openxmlformats.org/officeDocument/2006/relationships/notesSlide" Target="/ppt/notesSlides/notesSlide7.xml" Id="R7e28290304b745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aa9fc627b47a3" /><Relationship Type="http://schemas.openxmlformats.org/officeDocument/2006/relationships/notesSlide" Target="/ppt/notesSlides/notesSlide8.xml" Id="R931eee25d7f54b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9fac025f2473e" /><Relationship Type="http://schemas.openxmlformats.org/officeDocument/2006/relationships/notesSlide" Target="/ppt/notesSlides/notesSlide9.xml" Id="R28f1fb3c1b5e42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2ac5ab2804f10" /><Relationship Type="http://schemas.openxmlformats.org/officeDocument/2006/relationships/notesSlide" Target="/ppt/notesSlides/notesSlide10.xml" Id="R896c5abd75e14f6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Recorded incidents</c:v>
          </c:tx>
          <c:spPr>
            <a:solidFill xmlns:a="http://schemas.openxmlformats.org/drawingml/2006/main">
              <a:srgbClr val="0E7490"/>
            </a:solidFill>
          </c:spPr>
          <c:cat>
            <c:strRef>
              <c:f>'Chart Data'!$A$2:$A$8</c:f>
              <c:strCache>
                <c:ptCount val="7"/>
                <c:pt idx="0">
                  <c:v>Surfing</c:v>
                </c:pt>
                <c:pt idx="1">
                  <c:v>Swimming/Wading</c:v>
                </c:pt>
                <c:pt idx="2">
                  <c:v>Other/Unknown</c:v>
                </c:pt>
                <c:pt idx="3">
                  <c:v>Fishing</c:v>
                </c:pt>
                <c:pt idx="4">
                  <c:v>Diving/Snorkeling</c:v>
                </c:pt>
                <c:pt idx="5">
                  <c:v>Paddling</c:v>
                </c:pt>
                <c:pt idx="6">
                  <c:v>Boating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966</c:v>
                </c:pt>
                <c:pt idx="1">
                  <c:v>520</c:v>
                </c:pt>
                <c:pt idx="2">
                  <c:v>235</c:v>
                </c:pt>
                <c:pt idx="3">
                  <c:v>230</c:v>
                </c:pt>
                <c:pt idx="4">
                  <c:v>229</c:v>
                </c:pt>
                <c:pt idx="5">
                  <c:v>35</c:v>
                </c:pt>
                <c:pt idx="6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Recorded incidents</c:v>
          </c:tx>
          <c:spPr>
            <a:solidFill xmlns:a="http://schemas.openxmlformats.org/drawingml/2006/main">
              <a:srgbClr val="D97706"/>
            </a:solidFill>
          </c:spPr>
          <c:cat>
            <c:strRef>
              <c:f>'Chart Data'!$A$2:$A$11</c:f>
              <c:strCache>
                <c:ptCount val="10"/>
                <c:pt idx="0">
                  <c:v>USA</c:v>
                </c:pt>
                <c:pt idx="1">
                  <c:v>Australia</c:v>
                </c:pt>
                <c:pt idx="2">
                  <c:v>South Africa</c:v>
                </c:pt>
                <c:pt idx="3">
                  <c:v>Bahamas</c:v>
                </c:pt>
                <c:pt idx="4">
                  <c:v>Brazil</c:v>
                </c:pt>
                <c:pt idx="5">
                  <c:v>New Zealand</c:v>
                </c:pt>
                <c:pt idx="6">
                  <c:v>New Caledonia</c:v>
                </c:pt>
                <c:pt idx="7">
                  <c:v>Egypt</c:v>
                </c:pt>
                <c:pt idx="8">
                  <c:v>Reunion</c:v>
                </c:pt>
                <c:pt idx="9">
                  <c:v>French Polynesia</c:v>
                </c:pt>
              </c:strCache>
            </c:str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1125</c:v>
                </c:pt>
                <c:pt idx="1">
                  <c:v>439</c:v>
                </c:pt>
                <c:pt idx="2">
                  <c:v>115</c:v>
                </c:pt>
                <c:pt idx="3">
                  <c:v>70</c:v>
                </c:pt>
                <c:pt idx="4">
                  <c:v>54</c:v>
                </c:pt>
                <c:pt idx="5">
                  <c:v>38</c:v>
                </c:pt>
                <c:pt idx="6">
                  <c:v>35</c:v>
                </c:pt>
                <c:pt idx="7">
                  <c:v>30</c:v>
                </c:pt>
                <c:pt idx="8">
                  <c:v>28</c:v>
                </c:pt>
                <c:pt idx="9">
                  <c:v>27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Fatal outcomes (%)</c:v>
          </c:tx>
          <c:spPr>
            <a:solidFill xmlns:a="http://schemas.openxmlformats.org/drawingml/2006/main">
              <a:srgbClr val="E05D44"/>
            </a:solidFill>
          </c:spPr>
          <c:cat>
            <c:strRef>
              <c:f>'Chart Data'!$A$2:$A$8</c:f>
              <c:strCache>
                <c:ptCount val="7"/>
                <c:pt idx="0">
                  <c:v>Diving/Snorkeling</c:v>
                </c:pt>
                <c:pt idx="1">
                  <c:v>Swimming/Wading</c:v>
                </c:pt>
                <c:pt idx="2">
                  <c:v>Fishing</c:v>
                </c:pt>
                <c:pt idx="3">
                  <c:v>Other/Unknown</c:v>
                </c:pt>
                <c:pt idx="4">
                  <c:v>Surfing</c:v>
                </c:pt>
                <c:pt idx="5">
                  <c:v>Paddling</c:v>
                </c:pt>
                <c:pt idx="6">
                  <c:v>Boating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17.86</c:v>
                </c:pt>
                <c:pt idx="1">
                  <c:v>14.67</c:v>
                </c:pt>
                <c:pt idx="2">
                  <c:v>13.6</c:v>
                </c:pt>
                <c:pt idx="3">
                  <c:v>9.61</c:v>
                </c:pt>
                <c:pt idx="4">
                  <c:v>6.95</c:v>
                </c:pt>
                <c:pt idx="5">
                  <c:v>5.71</c:v>
                </c:pt>
                <c:pt idx="6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D9A15-E55E-4F50-BA32-5038C9AB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EAD35-E34B-41E5-B2CB-C6A94DF8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SHARKSAFE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51212-ACE2-4E2F-B233-307F3D98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9DDE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B9DDE2"/>
                </a:solidFill>
                <a:latin typeface="Bitstream Charter"/>
                <a:ea typeface="Bitstream Charter"/>
                <a:cs typeface="Bitstream Charter"/>
              </a:rPr>
              <a:t>Cleaning and exploring global shark incidents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39911-1477-4392-AA2D-4A0792D8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D44"/>
          </a:solidFill>
          <a:ln xmlns:a="http://schemas.openxmlformats.org/drawingml/2006/main" w="0">
            <a:solidFill>
              <a:srgbClr val="E05D4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9EB7D-4A5C-43A1-BAB5-377ADF69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Paul Omogiate Obamwonyi and project team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1E485-A3C8-4127-A42F-B9514CE6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DDE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B9DDE2"/>
                </a:solidFill>
                <a:latin typeface="Bitstream Charter"/>
                <a:ea typeface="Bitstream Charter"/>
                <a:cs typeface="Bitstream Charter"/>
              </a:rPr>
              <a:t>Ironhack Data Wrangling Quest</a:t>
            </a:r>
          </a:p>
        </p:txBody>
      </p:sp>
    </p:spTree>
    <p:extLst>
      <p:ext uri="{BB962C8B-B14F-4D97-AF65-F5344CB8AC3E}">
        <p14:creationId xmlns:p14="http://schemas.microsoft.com/office/powerpoint/2010/main" val="4492640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0BA4A-907F-4041-A64F-7D7481E6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D9FC9-CF0E-4FA1-8718-42540910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rPr>
              <a:t>Research question and hypothesis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73742-7EDE-4CD7-BE3F-9448B5FF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C9A78-1454-428C-9B44-B84C5485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4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E7490"/>
                </a:solidFill>
                <a:latin typeface="Bitstream Charter"/>
                <a:ea typeface="Bitstream Charter"/>
                <a:cs typeface="Bitstream Charter"/>
              </a:rPr>
              <a:t>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43E6E-1423-47C1-A4CC-7CF248B0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rPr>
              <a:t>Which activities and locations appear most frequently in recorded unprovoked shark incidents from 2000 to 2025?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76724-09CA-40F3-B6D5-CE4C6F0C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0"/>
          </a:solidFill>
          <a:ln xmlns:a="http://schemas.openxmlformats.org/drawingml/2006/main" w="0">
            <a:solidFill>
              <a:srgbClr val="C9DD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857A8-230F-4F7E-8EBA-291C7565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5D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E05D44"/>
                </a:solidFill>
                <a:latin typeface="Bitstream Charter"/>
                <a:ea typeface="Bitstream Charter"/>
                <a:cs typeface="Bitstream Charter"/>
              </a:rPr>
              <a:t>HYPOTHESIS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6B22E-3D7B-4370-869B-4764683D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rPr>
              <a:t>Surfing will be the most frequently recorded activity.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4DA35-A800-4F2F-8293-0E60FCB6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rPr>
              <a:t>We analyse incident counts. Exposure data is unavailable, so the results do not measure individual risk.</a:t>
            </a:r>
          </a:p>
        </p:txBody>
      </p:sp>
    </p:spTree>
    <p:extLst>
      <p:ext uri="{BB962C8B-B14F-4D97-AF65-F5344CB8AC3E}">
        <p14:creationId xmlns:p14="http://schemas.microsoft.com/office/powerpoint/2010/main" val="3675202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082C0-9512-478D-9D46-BC5B7729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C3870-F468-472F-9395-5F802F77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rPr>
              <a:t>Raw data and analytical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7B35D-8C64-4677-952C-D9328673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D5F20-3897-47CE-81CD-C272F59F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E74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0E7490"/>
                </a:solidFill>
                <a:latin typeface="Bitstream Charter"/>
                <a:ea typeface="Bitstream Charter"/>
                <a:cs typeface="Bitstream Charter"/>
              </a:rPr>
              <a:t>7,117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E926A-8C74-4AAE-A321-BB322E4A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rPr>
              <a:t>raw records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C1BE2-71FD-402E-AAD0-E7926960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2875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05D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E05D44"/>
                </a:solidFill>
                <a:latin typeface="Bitstream Charter"/>
                <a:ea typeface="Bitstream Charter"/>
                <a:cs typeface="Bitstream Charter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1C10A-5F0A-466E-A1D1-D91612AE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43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rPr>
              <a:t>original columns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81C5E-100F-443C-88FE-77FDEC4E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28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rPr>
              <a:t>2,220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18782-09D1-4C6E-A6AA-0F68F2E8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43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rPr>
              <a:t>records analysed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BDE69-BB0D-4C35-BDD7-77657EC5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0"/>
          </a:solidFill>
          <a:ln xmlns:a="http://schemas.openxmlformats.org/drawingml/2006/main" w="0">
            <a:solidFill>
              <a:srgbClr val="C9DDE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06357-E03A-4214-A795-7E3BD84B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rPr>
              <a:t>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F65E9-ACE2-46A3-A90A-B11B3749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rPr>
              <a:t>Complete years 2000 to 2025</a:t>
            </a:r>
          </a:p>
          <a:p xmlns:a="http://schemas.openxmlformats.org/drawingml/2006/main">
            <a:pPr algn="l">
              <a:defRPr sz="1800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rPr>
              <a:t>GSAF classification: Unprovoked</a:t>
            </a:r>
          </a:p>
          <a:p xmlns:a="http://schemas.openxmlformats.org/drawingml/2006/main">
            <a:pPr algn="l">
              <a:defRPr sz="1800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rPr>
              <a:t>Incomplete 2026 records excluded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E2316-BBC5-48BA-ABA1-3109F654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rPr>
              <a:t>Data problems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D874B-09BF-4DDD-A53E-AA10079D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5762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rPr>
              <a:t>Missing values</a:t>
            </a:r>
          </a:p>
          <a:p xmlns:a="http://schemas.openxmlformats.org/drawingml/2006/main">
            <a:pPr algn="l">
              <a:defRPr sz="1800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rPr>
              <a:t>Inconsistent categories</a:t>
            </a:r>
          </a:p>
          <a:p xmlns:a="http://schemas.openxmlformats.org/drawingml/2006/main">
            <a:pPr algn="l">
              <a:defRPr sz="1800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rPr>
              <a:t>Free text dates, ages and activities</a:t>
            </a:r>
          </a:p>
        </p:txBody>
      </p:sp>
    </p:spTree>
    <p:extLst>
      <p:ext uri="{BB962C8B-B14F-4D97-AF65-F5344CB8AC3E}">
        <p14:creationId xmlns:p14="http://schemas.microsoft.com/office/powerpoint/2010/main" val="898736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5E5482-F629-4912-9537-CC85AF94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2BF44-015C-4857-A633-C0035AD3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rPr>
              <a:t>Reusable cleaning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D8CEE-8B4E-4509-81D5-54F2DF2B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AD838-BBEC-4212-8496-F3B39A79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4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E7490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1F465-67EB-4136-ABDA-2595EAFB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9062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rPr>
              <a:t>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798EF-FCC6-4655-AAC8-DD22AD2A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90625"/>
            <a:ext cx="7858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rPr>
              <a:t>Standardized column names and removed empty fields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5DB73-7676-46BF-BD38-B828FD3E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764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A"/>
          </a:solidFill>
          <a:ln xmlns:a="http://schemas.openxmlformats.org/drawingml/2006/main" w="0">
            <a:solidFill>
              <a:srgbClr val="DDE8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98830-6560-4235-AE2B-4B264523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4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E7490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E94B7-1E79-4327-8F8B-2CA2ACC4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621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rPr>
              <a:t>Duplicates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AD329-A1FD-42FE-B905-868E72CA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62175"/>
            <a:ext cx="7858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rPr>
              <a:t>Removed exact duplicate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28AAC-3548-45AE-BE25-BC1A2A22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479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A"/>
          </a:solidFill>
          <a:ln xmlns:a="http://schemas.openxmlformats.org/drawingml/2006/main" w="0">
            <a:solidFill>
              <a:srgbClr val="DDE8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C6C29-CE17-42F0-8471-EF26CDDC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4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E749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25F87-12AA-4F7F-B3EE-297E13FF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3372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rPr>
              <a:t>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5B4C3-F2F1-4448-B11A-24CF04AB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33725"/>
            <a:ext cx="7858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rPr>
              <a:t>Normalized Unicode, whitespace and categories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8FF05-0790-45FB-8F87-61794D96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195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A"/>
          </a:solidFill>
          <a:ln xmlns:a="http://schemas.openxmlformats.org/drawingml/2006/main" w="0">
            <a:solidFill>
              <a:srgbClr val="DDE8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AF34C-75A5-411F-A548-DBF11D59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4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E7490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611D6-6828-4932-9198-4F3AD416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05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rPr>
              <a:t>Regex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080361-8004-4F66-8633-0F1C65A1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05275"/>
            <a:ext cx="7858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rPr>
              <a:t>Extracted ages and grouped free text activities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62A2F-7D2E-4563-A914-937E888A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910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A"/>
          </a:solidFill>
          <a:ln xmlns:a="http://schemas.openxmlformats.org/drawingml/2006/main" w="0">
            <a:solidFill>
              <a:srgbClr val="DDE8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97469E-001A-4921-85F3-E50FDD2B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4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E7490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8AE874-018B-4C08-860D-52B38A60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7682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rPr>
              <a:t>Features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79A554-2DF4-4843-9441-95333666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76825"/>
            <a:ext cx="7858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rPr>
              <a:t>Created dates, months, decades and age groups</a:t>
            </a:r>
          </a:p>
        </p:txBody>
      </p:sp>
    </p:spTree>
    <p:extLst>
      <p:ext uri="{BB962C8B-B14F-4D97-AF65-F5344CB8AC3E}">
        <p14:creationId xmlns:p14="http://schemas.microsoft.com/office/powerpoint/2010/main" val="1574993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B2B10-449B-429C-BB66-4764CFB2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3B29E-7FEB-44FB-91C9-7B77EE2F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rPr>
              <a:t>Surfing leads the selected incident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0CF7D-D93E-47AF-89DB-DDEBFFE5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190625"/>
          <a:ext xmlns:a="http://schemas.openxmlformats.org/drawingml/2006/main" cx="7667625" cy="4857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336578d33e4d4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D9A22-FA10-4AE1-BAE3-3B304AEF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57375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E05D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650" b="1">
                <a:solidFill>
                  <a:srgbClr val="E05D44"/>
                </a:solidFill>
                <a:latin typeface="Bitstream Charter"/>
                <a:ea typeface="Bitstream Charter"/>
                <a:cs typeface="Bitstream Charter"/>
              </a:rPr>
              <a:t>966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62F3E-9BD7-4482-805C-1DEFE883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14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rPr>
              <a:t>surfing incidents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20695-32A6-41BE-9421-668057C5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718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rPr>
              <a:t>43.5% of the selected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936B2-2F2D-4FF4-A459-04ACD3FD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810125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rPr>
              <a:t>Hypothesis supported within the selected dataset</a:t>
            </a:r>
          </a:p>
        </p:txBody>
      </p:sp>
    </p:spTree>
    <p:extLst>
      <p:ext uri="{BB962C8B-B14F-4D97-AF65-F5344CB8AC3E}">
        <p14:creationId xmlns:p14="http://schemas.microsoft.com/office/powerpoint/2010/main" val="5400239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43A15-F77F-4EEF-A661-5FEFF0A2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04065-F724-499B-B259-9AAC08A0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rPr>
              <a:t>The USA has the highest recorded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87EB9-8964-442D-9907-736874C2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66750" y="1190625"/>
          <a:ext xmlns:a="http://schemas.openxmlformats.org/drawingml/2006/main" cx="7905750" cy="4905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1c3aab73cc4f8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E3397-6472-440A-86F9-3C29B642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050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E74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350" b="1">
                <a:solidFill>
                  <a:srgbClr val="0E7490"/>
                </a:solidFill>
                <a:latin typeface="Bitstream Charter"/>
                <a:ea typeface="Bitstream Charter"/>
                <a:cs typeface="Bitstream Charter"/>
              </a:rPr>
              <a:t>1,125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7C9EE-5318-4E28-B1F6-0C623492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622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rPr>
              <a:t>USA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B275E-6F49-45C2-8F9B-93662F5E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57625"/>
            <a:ext cx="266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rPr>
              <a:t>Country totals can reflect reporting, population, tourism and ocean participation.</a:t>
            </a:r>
          </a:p>
        </p:txBody>
      </p:sp>
    </p:spTree>
    <p:extLst>
      <p:ext uri="{BB962C8B-B14F-4D97-AF65-F5344CB8AC3E}">
        <p14:creationId xmlns:p14="http://schemas.microsoft.com/office/powerpoint/2010/main" val="11696244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5E0FF-E191-4555-9620-9F020050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6715D-EB7A-49B6-9DAD-44C51C17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rPr>
              <a:t>Fatal outcomes differ across activity groups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1CB62-3F36-454B-B700-1368484F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190625"/>
          <a:ext xmlns:a="http://schemas.openxmlformats.org/drawingml/2006/main" cx="7810500" cy="4857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9f2d4c7e164a9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8CD80-9898-4BA6-A85D-8363B6B7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rPr>
              <a:t>2,203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5502F-13D5-49A7-B915-1950A18A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288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rPr>
              <a:t>known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1147C-9083-45B5-88A1-F4306135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rPr>
              <a:t>10.80%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A0FCB-8755-4B82-9594-AED598C9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433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rPr>
              <a:t>fatal overall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2D741-9880-4A1D-AEE8-DCBFDEF1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14350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rPr>
              <a:t>Unknown outcomes were excluded from the denominator.</a:t>
            </a:r>
          </a:p>
        </p:txBody>
      </p:sp>
    </p:spTree>
    <p:extLst>
      <p:ext uri="{BB962C8B-B14F-4D97-AF65-F5344CB8AC3E}">
        <p14:creationId xmlns:p14="http://schemas.microsoft.com/office/powerpoint/2010/main" val="4184005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8F48F-88B9-4CB7-97EA-D453C9C1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D5BE0-B2CB-4F53-B063-C87E2195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rPr>
              <a:t>Main obstacle: free 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EA644-D405-47CC-86A1-3AC5EC3F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FBBFA-D51B-4F59-A3AF-9AE2F6FB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rPr>
              <a:t>The source describes incidents in human language.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23519-6A02-4457-A6B3-73E02EC3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4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E7490"/>
                </a:solidFill>
                <a:latin typeface="Bitstream Charter"/>
                <a:ea typeface="Bitstream Charter"/>
                <a:cs typeface="Bitstream Charter"/>
              </a:rPr>
              <a:t>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16FC9-6CBB-4663-AA54-6E88D178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33625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rPr>
              <a:t>“About 24 years” and other mixed formats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25770-BA20-4DA7-BCA5-3269FDFF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099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A"/>
          </a:solidFill>
          <a:ln xmlns:a="http://schemas.openxmlformats.org/drawingml/2006/main" w="0">
            <a:solidFill>
              <a:srgbClr val="DDE8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8A6D8-5F72-4DFB-8BAB-C774FB4B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0042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4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E7490"/>
                </a:solidFill>
                <a:latin typeface="Bitstream Charter"/>
                <a:ea typeface="Bitstream Charter"/>
                <a:cs typeface="Bitstream Charter"/>
              </a:rPr>
              <a:t>ACTIVITIES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11EF1-8E46-4EFC-A558-930A3C7F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00425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rPr>
              <a:t>Detailed descriptions with overlapping terms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C6D03-023A-430C-9B70-9587161F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767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A"/>
          </a:solidFill>
          <a:ln xmlns:a="http://schemas.openxmlformats.org/drawingml/2006/main" w="0">
            <a:solidFill>
              <a:srgbClr val="DDE8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BF972-2F4E-49BC-BEC2-58F6F5AA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6722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4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E7490"/>
                </a:solidFill>
                <a:latin typeface="Bitstream Charter"/>
                <a:ea typeface="Bitstream Charter"/>
                <a:cs typeface="Bitstream Charter"/>
              </a:rPr>
              <a:t>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EC2E6-FABA-4F81-B458-171D57A6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67225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rPr>
              <a:t>Ordinal suffixes and incomplete historical entries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FA8EB4-A2A6-498F-AD5E-8214CE51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435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A"/>
          </a:solidFill>
          <a:ln xmlns:a="http://schemas.openxmlformats.org/drawingml/2006/main" w="0">
            <a:solidFill>
              <a:srgbClr val="DDE8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88DEC-68E3-42CD-B00D-4AFCBBAC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rPr>
              <a:t>Lesson: grouping rules should remain visible, reproducible and easy to revise.</a:t>
            </a:r>
          </a:p>
        </p:txBody>
      </p:sp>
    </p:spTree>
    <p:extLst>
      <p:ext uri="{BB962C8B-B14F-4D97-AF65-F5344CB8AC3E}">
        <p14:creationId xmlns:p14="http://schemas.microsoft.com/office/powerpoint/2010/main" val="6971110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057A1-AF21-4D03-899D-BCF80929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74D96-9678-4649-A3F7-70423D24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9283D"/>
                </a:solidFill>
                <a:latin typeface="Bitstream Charter"/>
                <a:ea typeface="Bitstream Charter"/>
                <a:cs typeface="Bitstream Charter"/>
              </a:rPr>
              <a:t>Conclusion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47758-4D71-4C7E-A55F-904B66B9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55E3D-E9B3-460D-BED6-6E5B4670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0F766E"/>
                </a:solidFill>
                <a:latin typeface="Bitstream Charter"/>
                <a:ea typeface="Bitstream Charter"/>
                <a:cs typeface="Bitstream Charter"/>
              </a:rPr>
              <a:t>The hypothesis is supported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3D59C-13EB-4A21-AF09-76AE8F1B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rPr>
              <a:t>Surfing is the largest activity group in the selected records. The USA has the highest recorded country count.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C570F-C964-439E-9DBB-6E997876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0"/>
          </a:solidFill>
          <a:ln xmlns:a="http://schemas.openxmlformats.org/drawingml/2006/main" w="0">
            <a:solidFill>
              <a:srgbClr val="C9DD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D0145-DF43-496B-8684-D8A3A011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05D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E05D44"/>
                </a:solidFill>
                <a:latin typeface="Bitstream Charter"/>
                <a:ea typeface="Bitstream Charter"/>
                <a:cs typeface="Bitstream Charter"/>
              </a:rPr>
              <a:t>What the analysis cannot claim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35207-74EE-493D-B3B8-F533B59F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63141"/>
                </a:solidFill>
                <a:latin typeface="Bitstream Charter"/>
                <a:ea typeface="Bitstream Charter"/>
                <a:cs typeface="Bitstream Charter"/>
              </a:rPr>
              <a:t>Incident counts are not probabilities. The data cannot establish causation or compare personal risk without participant exposure totals.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748AF-BB1E-4ACE-AD27-F1C05979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26875"/>
                </a:solidFill>
                <a:latin typeface="Bitstream Charter"/>
                <a:ea typeface="Bitstream Charter"/>
                <a:cs typeface="Bitstream Charter"/>
              </a:rPr>
              <a:t>Next step: combine incident records with participation or visitor data.</a:t>
            </a:r>
          </a:p>
        </p:txBody>
      </p:sp>
    </p:spTree>
    <p:extLst>
      <p:ext uri="{BB962C8B-B14F-4D97-AF65-F5344CB8AC3E}">
        <p14:creationId xmlns:p14="http://schemas.microsoft.com/office/powerpoint/2010/main" val="2054623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896D4-F102-43C8-81FF-47056F0A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4D9B0-A9A4-42CE-9008-648D9288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9DDE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B9DDE2"/>
                </a:solidFill>
                <a:latin typeface="Bitstream Charter"/>
                <a:ea typeface="Bitstream Charter"/>
                <a:cs typeface="Bitstream Charter"/>
              </a:rPr>
              <a:t>SharkSafe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C6A93-10EA-413E-91C0-FB564BAC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426232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2026-09-18T22:45:42.1980000Z</dcterms:created>
  <dcterms:modified xsi:type="dcterms:W3CDTF">2026-09-18T22:45:42.1980000Z</dcterms:modified>
</coreProperties>
</file>